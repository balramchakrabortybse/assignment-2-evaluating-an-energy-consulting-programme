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62A44"/>
                </a:solidFill>
                <a:latin typeface="Aptos"/>
              </a:rPr>
              <a:t>Consulting cut electricity use early — then the effect reversed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667482"/>
                </a:solidFill>
                <a:latin typeface="Aptos"/>
              </a:rPr>
              <a:t>Dynamic intent-to-treat (ITT) effects on monthly electricity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325880"/>
            <a:ext cx="7424927" cy="4690872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99616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62A44"/>
                </a:solidFill>
                <a:latin typeface="Aptos"/>
              </a:rPr>
              <a:t>Effect vs. control, relative to month 0 (MWh/plant-month)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51790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67482"/>
                </a:solidFill>
                <a:latin typeface="Aptos"/>
              </a:rPr>
              <a:t>● Estimate   │   95% CI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98448" y="5244324"/>
            <a:ext cx="6254496" cy="0"/>
          </a:xfrm>
          <a:prstGeom prst="line">
            <a:avLst/>
          </a:prstGeom>
          <a:ln w="10160">
            <a:solidFill>
              <a:srgbClr val="DC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514374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67482"/>
                </a:solidFill>
                <a:latin typeface="Aptos"/>
              </a:rPr>
              <a:t>-1,200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98448" y="4532055"/>
            <a:ext cx="6254496" cy="0"/>
          </a:xfrm>
          <a:prstGeom prst="line">
            <a:avLst/>
          </a:prstGeom>
          <a:ln w="10160">
            <a:solidFill>
              <a:srgbClr val="DC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4431471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67482"/>
                </a:solidFill>
                <a:latin typeface="Aptos"/>
              </a:rPr>
              <a:t>-800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98448" y="3819785"/>
            <a:ext cx="6254496" cy="0"/>
          </a:xfrm>
          <a:prstGeom prst="line">
            <a:avLst/>
          </a:prstGeom>
          <a:ln w="10160">
            <a:solidFill>
              <a:srgbClr val="DC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3719201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67482"/>
                </a:solidFill>
                <a:latin typeface="Aptos"/>
              </a:rPr>
              <a:t>-400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98448" y="3107516"/>
            <a:ext cx="6254496" cy="0"/>
          </a:xfrm>
          <a:prstGeom prst="line">
            <a:avLst/>
          </a:prstGeom>
          <a:ln w="10160">
            <a:solidFill>
              <a:srgbClr val="DC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300693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67482"/>
                </a:solidFill>
                <a:latin typeface="Aptos"/>
              </a:rPr>
              <a:t>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98448" y="2395246"/>
            <a:ext cx="6254496" cy="0"/>
          </a:xfrm>
          <a:prstGeom prst="line">
            <a:avLst/>
          </a:prstGeom>
          <a:ln w="10160">
            <a:solidFill>
              <a:srgbClr val="DC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229466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67482"/>
                </a:solidFill>
                <a:latin typeface="Aptos"/>
              </a:rPr>
              <a:t>400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98448" y="2039112"/>
            <a:ext cx="0" cy="3383280"/>
          </a:xfrm>
          <a:prstGeom prst="line">
            <a:avLst/>
          </a:prstGeom>
          <a:ln w="10160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98448" y="5422392"/>
            <a:ext cx="6254496" cy="0"/>
          </a:xfrm>
          <a:prstGeom prst="line">
            <a:avLst/>
          </a:prstGeom>
          <a:ln w="10160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57830" y="2039112"/>
            <a:ext cx="0" cy="3383280"/>
          </a:xfrm>
          <a:prstGeom prst="line">
            <a:avLst/>
          </a:prstGeom>
          <a:ln w="15240">
            <a:solidFill>
              <a:srgbClr val="B9772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803550" y="1874519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B97722"/>
                </a:solidFill>
                <a:latin typeface="Aptos"/>
              </a:rPr>
              <a:t>Consulting starts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98448" y="3107516"/>
            <a:ext cx="6254496" cy="0"/>
          </a:xfrm>
          <a:prstGeom prst="line">
            <a:avLst/>
          </a:prstGeom>
          <a:ln w="13970">
            <a:solidFill>
              <a:srgbClr val="16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98448" y="5422392"/>
            <a:ext cx="0" cy="45720"/>
          </a:xfrm>
          <a:prstGeom prst="line">
            <a:avLst/>
          </a:prstGeom>
          <a:ln w="8890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43000" y="548640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7482"/>
                </a:solidFill>
                <a:latin typeface="Aptos"/>
              </a:rPr>
              <a:t>-3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49347" y="5422392"/>
            <a:ext cx="0" cy="45720"/>
          </a:xfrm>
          <a:prstGeom prst="line">
            <a:avLst/>
          </a:prstGeom>
          <a:ln w="8890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393899" y="548640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7482"/>
                </a:solidFill>
                <a:latin typeface="Aptos"/>
              </a:rPr>
              <a:t>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800246" y="5422392"/>
            <a:ext cx="0" cy="45720"/>
          </a:xfrm>
          <a:prstGeom prst="line">
            <a:avLst/>
          </a:prstGeom>
          <a:ln w="8890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644798" y="548640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7482"/>
                </a:solidFill>
                <a:latin typeface="Aptos"/>
              </a:rPr>
              <a:t>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51145" y="5422392"/>
            <a:ext cx="0" cy="45720"/>
          </a:xfrm>
          <a:prstGeom prst="line">
            <a:avLst/>
          </a:prstGeom>
          <a:ln w="8890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895697" y="548640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7482"/>
                </a:solidFill>
                <a:latin typeface="Aptos"/>
              </a:rPr>
              <a:t>6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302044" y="5422392"/>
            <a:ext cx="0" cy="45720"/>
          </a:xfrm>
          <a:prstGeom prst="line">
            <a:avLst/>
          </a:prstGeom>
          <a:ln w="8890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146596" y="548640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7482"/>
                </a:solidFill>
                <a:latin typeface="Aptos"/>
              </a:rPr>
              <a:t>9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552944" y="5422392"/>
            <a:ext cx="0" cy="45720"/>
          </a:xfrm>
          <a:prstGeom prst="line">
            <a:avLst/>
          </a:prstGeom>
          <a:ln w="8890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97496" y="548640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7482"/>
                </a:solidFill>
                <a:latin typeface="Aptos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570585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667482"/>
                </a:solidFill>
                <a:latin typeface="Aptos"/>
              </a:rPr>
              <a:t>Month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1298448" y="3097740"/>
            <a:ext cx="416966" cy="31838"/>
          </a:xfrm>
          <a:prstGeom prst="line">
            <a:avLst/>
          </a:prstGeom>
          <a:ln w="2794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715414" y="3097740"/>
            <a:ext cx="416966" cy="3205"/>
          </a:xfrm>
          <a:prstGeom prst="line">
            <a:avLst/>
          </a:prstGeom>
          <a:ln w="2794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32380" y="3100945"/>
            <a:ext cx="833933" cy="2036289"/>
          </a:xfrm>
          <a:prstGeom prst="line">
            <a:avLst/>
          </a:prstGeom>
          <a:ln w="2794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966313" y="5137234"/>
            <a:ext cx="416966" cy="21333"/>
          </a:xfrm>
          <a:prstGeom prst="line">
            <a:avLst/>
          </a:prstGeom>
          <a:ln w="2794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383279" y="5154721"/>
            <a:ext cx="416967" cy="3846"/>
          </a:xfrm>
          <a:prstGeom prst="line">
            <a:avLst/>
          </a:prstGeom>
          <a:ln w="2794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800246" y="4192088"/>
            <a:ext cx="416966" cy="962633"/>
          </a:xfrm>
          <a:prstGeom prst="line">
            <a:avLst/>
          </a:prstGeom>
          <a:ln w="2794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217212" y="4175404"/>
            <a:ext cx="416967" cy="16684"/>
          </a:xfrm>
          <a:prstGeom prst="line">
            <a:avLst/>
          </a:prstGeom>
          <a:ln w="2794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634179" y="3201446"/>
            <a:ext cx="416966" cy="973958"/>
          </a:xfrm>
          <a:prstGeom prst="line">
            <a:avLst/>
          </a:prstGeom>
          <a:ln w="2794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051145" y="3201446"/>
            <a:ext cx="416967" cy="5716"/>
          </a:xfrm>
          <a:prstGeom prst="line">
            <a:avLst/>
          </a:prstGeom>
          <a:ln w="2794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5468112" y="2315846"/>
            <a:ext cx="416966" cy="891316"/>
          </a:xfrm>
          <a:prstGeom prst="line">
            <a:avLst/>
          </a:prstGeom>
          <a:ln w="2794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885078" y="2315846"/>
            <a:ext cx="416966" cy="6642"/>
          </a:xfrm>
          <a:prstGeom prst="line">
            <a:avLst/>
          </a:prstGeom>
          <a:ln w="2794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6302044" y="2316184"/>
            <a:ext cx="416967" cy="6304"/>
          </a:xfrm>
          <a:prstGeom prst="line">
            <a:avLst/>
          </a:prstGeom>
          <a:ln w="2794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719011" y="2308260"/>
            <a:ext cx="416966" cy="7924"/>
          </a:xfrm>
          <a:prstGeom prst="line">
            <a:avLst/>
          </a:prstGeom>
          <a:ln w="2794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135977" y="2308260"/>
            <a:ext cx="416967" cy="17024"/>
          </a:xfrm>
          <a:prstGeom prst="line">
            <a:avLst/>
          </a:prstGeom>
          <a:ln w="2794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298448" y="3085649"/>
            <a:ext cx="0" cy="87858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57300" y="3085649"/>
            <a:ext cx="82295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257300" y="3173507"/>
            <a:ext cx="82295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1257300" y="3088430"/>
            <a:ext cx="82296" cy="82296"/>
          </a:xfrm>
          <a:prstGeom prst="ellipse">
            <a:avLst/>
          </a:prstGeom>
          <a:solidFill>
            <a:srgbClr val="00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715414" y="3056642"/>
            <a:ext cx="0" cy="82196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674266" y="3056642"/>
            <a:ext cx="82296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674266" y="3138838"/>
            <a:ext cx="82296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674266" y="3056592"/>
            <a:ext cx="82296" cy="82296"/>
          </a:xfrm>
          <a:prstGeom prst="ellipse">
            <a:avLst/>
          </a:prstGeom>
          <a:solidFill>
            <a:srgbClr val="00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2132380" y="3058832"/>
            <a:ext cx="0" cy="84208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91232" y="3058832"/>
            <a:ext cx="82296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91232" y="3143040"/>
            <a:ext cx="82296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2091232" y="3059797"/>
            <a:ext cx="82296" cy="82296"/>
          </a:xfrm>
          <a:prstGeom prst="ellipse">
            <a:avLst/>
          </a:prstGeom>
          <a:solidFill>
            <a:srgbClr val="00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2966313" y="4996116"/>
            <a:ext cx="0" cy="282255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925165" y="4996116"/>
            <a:ext cx="82296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925165" y="5278371"/>
            <a:ext cx="82296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2925165" y="5096086"/>
            <a:ext cx="82296" cy="82296"/>
          </a:xfrm>
          <a:prstGeom prst="ellipse">
            <a:avLst/>
          </a:prstGeom>
          <a:solidFill>
            <a:srgbClr val="CD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3383279" y="5015276"/>
            <a:ext cx="0" cy="286564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342132" y="5015276"/>
            <a:ext cx="82295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342132" y="5301840"/>
            <a:ext cx="82295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3342132" y="5117419"/>
            <a:ext cx="82296" cy="82296"/>
          </a:xfrm>
          <a:prstGeom prst="ellipse">
            <a:avLst/>
          </a:prstGeom>
          <a:solidFill>
            <a:srgbClr val="CD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3800246" y="5016095"/>
            <a:ext cx="0" cy="277269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759098" y="5016095"/>
            <a:ext cx="82296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759098" y="5293364"/>
            <a:ext cx="82296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3759098" y="5113573"/>
            <a:ext cx="82296" cy="82296"/>
          </a:xfrm>
          <a:prstGeom prst="ellipse">
            <a:avLst/>
          </a:prstGeom>
          <a:solidFill>
            <a:srgbClr val="CD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4217212" y="4012116"/>
            <a:ext cx="0" cy="359945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176064" y="4012116"/>
            <a:ext cx="82296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176064" y="4372061"/>
            <a:ext cx="82296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4176064" y="4150940"/>
            <a:ext cx="82296" cy="82296"/>
          </a:xfrm>
          <a:prstGeom prst="ellipse">
            <a:avLst/>
          </a:prstGeom>
          <a:solidFill>
            <a:srgbClr val="CD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4634179" y="3997140"/>
            <a:ext cx="0" cy="356527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593031" y="3997140"/>
            <a:ext cx="82296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593031" y="4353667"/>
            <a:ext cx="82296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4593031" y="4134256"/>
            <a:ext cx="82296" cy="82296"/>
          </a:xfrm>
          <a:prstGeom prst="ellipse">
            <a:avLst/>
          </a:prstGeom>
          <a:solidFill>
            <a:srgbClr val="CD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5051145" y="3025071"/>
            <a:ext cx="0" cy="352751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5009997" y="3025071"/>
            <a:ext cx="82296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5009997" y="3377822"/>
            <a:ext cx="82296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5009997" y="3160298"/>
            <a:ext cx="82296" cy="82296"/>
          </a:xfrm>
          <a:prstGeom prst="ellipse">
            <a:avLst/>
          </a:prstGeom>
          <a:solidFill>
            <a:srgbClr val="00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5468112" y="3032959"/>
            <a:ext cx="0" cy="348424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426964" y="3032959"/>
            <a:ext cx="82295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426964" y="3381383"/>
            <a:ext cx="82295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Oval 88"/>
          <p:cNvSpPr/>
          <p:nvPr/>
        </p:nvSpPr>
        <p:spPr>
          <a:xfrm>
            <a:off x="5426964" y="3166014"/>
            <a:ext cx="82296" cy="82296"/>
          </a:xfrm>
          <a:prstGeom prst="ellipse">
            <a:avLst/>
          </a:prstGeom>
          <a:solidFill>
            <a:srgbClr val="00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5885078" y="2181761"/>
            <a:ext cx="0" cy="268152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843930" y="2181761"/>
            <a:ext cx="82296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843930" y="2449913"/>
            <a:ext cx="82296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5843930" y="2274698"/>
            <a:ext cx="82296" cy="82296"/>
          </a:xfrm>
          <a:prstGeom prst="ellipse">
            <a:avLst/>
          </a:prstGeom>
          <a:solidFill>
            <a:srgbClr val="CD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6302044" y="2193086"/>
            <a:ext cx="0" cy="258803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260896" y="2193086"/>
            <a:ext cx="82296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6260896" y="2451889"/>
            <a:ext cx="82296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6260896" y="2281340"/>
            <a:ext cx="82296" cy="82296"/>
          </a:xfrm>
          <a:prstGeom prst="ellipse">
            <a:avLst/>
          </a:prstGeom>
          <a:solidFill>
            <a:srgbClr val="CD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6719011" y="2184575"/>
            <a:ext cx="0" cy="263219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6677863" y="2184575"/>
            <a:ext cx="82296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6677863" y="2447794"/>
            <a:ext cx="82296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6677863" y="2275036"/>
            <a:ext cx="82296" cy="82296"/>
          </a:xfrm>
          <a:prstGeom prst="ellipse">
            <a:avLst/>
          </a:prstGeom>
          <a:solidFill>
            <a:srgbClr val="CD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>
            <a:off x="7135977" y="2177879"/>
            <a:ext cx="0" cy="26078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094829" y="2177879"/>
            <a:ext cx="82296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094829" y="2438659"/>
            <a:ext cx="82296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7094829" y="2267112"/>
            <a:ext cx="82296" cy="82296"/>
          </a:xfrm>
          <a:prstGeom prst="ellipse">
            <a:avLst/>
          </a:prstGeom>
          <a:solidFill>
            <a:srgbClr val="CD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>
            <a:off x="7552944" y="2200405"/>
            <a:ext cx="0" cy="249739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7511796" y="2200405"/>
            <a:ext cx="82296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7511796" y="2450144"/>
            <a:ext cx="82296" cy="0"/>
          </a:xfrm>
          <a:prstGeom prst="line">
            <a:avLst/>
          </a:prstGeom>
          <a:ln w="13970">
            <a:solidFill>
              <a:srgbClr val="00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7511796" y="2284136"/>
            <a:ext cx="82296" cy="82296"/>
          </a:xfrm>
          <a:prstGeom prst="ellipse">
            <a:avLst/>
          </a:prstGeom>
          <a:solidFill>
            <a:srgbClr val="CD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298448" y="5879592"/>
            <a:ext cx="6263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67482"/>
                </a:solidFill>
                <a:latin typeface="Aptos"/>
              </a:rPr>
              <a:t>Below zero = less electricity use vs. control; above zero = more.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092440" y="1325880"/>
            <a:ext cx="3657600" cy="4690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339327" y="1527048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62A44"/>
                </a:solidFill>
                <a:latin typeface="Aptos"/>
              </a:rPr>
              <a:t>Evidence to cite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321040" y="2029968"/>
            <a:ext cx="3200400" cy="694944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321040" y="2029968"/>
            <a:ext cx="64008" cy="694944"/>
          </a:xfrm>
          <a:prstGeom prst="rect">
            <a:avLst/>
          </a:prstGeom>
          <a:solidFill>
            <a:srgbClr val="00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503920" y="2103120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667482"/>
                </a:solidFill>
                <a:latin typeface="Aptos"/>
              </a:rPr>
              <a:t>MONTHS 1–3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65792" y="2057400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007B87"/>
                </a:solidFill>
                <a:latin typeface="Aptos"/>
              </a:rPr>
              <a:t>−1,147 MWh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503920" y="2386584"/>
            <a:ext cx="28163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D3A49"/>
                </a:solidFill>
                <a:latin typeface="Aptos"/>
              </a:rPr>
              <a:t>95% CIs all below zero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321040" y="2880360"/>
            <a:ext cx="3200400" cy="694944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321040" y="2880360"/>
            <a:ext cx="64008" cy="694944"/>
          </a:xfrm>
          <a:prstGeom prst="rect">
            <a:avLst/>
          </a:prstGeom>
          <a:solidFill>
            <a:srgbClr val="B9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503920" y="2953512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667482"/>
                </a:solidFill>
                <a:latin typeface="Aptos"/>
              </a:rPr>
              <a:t>MONTHS 4–5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765792" y="2907791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B97722"/>
                </a:solidFill>
                <a:latin typeface="Aptos"/>
              </a:rPr>
              <a:t>−604 MWh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503920" y="3236976"/>
            <a:ext cx="28163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D3A49"/>
                </a:solidFill>
                <a:latin typeface="Aptos"/>
              </a:rPr>
              <a:t>Savings shrink; CIs below zero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8321040" y="3730752"/>
            <a:ext cx="3200400" cy="694944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321040" y="3730752"/>
            <a:ext cx="64008" cy="694944"/>
          </a:xfrm>
          <a:prstGeom prst="rect">
            <a:avLst/>
          </a:prstGeom>
          <a:solidFill>
            <a:srgbClr val="66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503920" y="3803904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667482"/>
                </a:solidFill>
                <a:latin typeface="Aptos"/>
              </a:rPr>
              <a:t>MONTHS 6–7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765792" y="3758184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667482"/>
                </a:solidFill>
                <a:latin typeface="Aptos"/>
              </a:rPr>
              <a:t>≈ −54 MWh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503920" y="4087368"/>
            <a:ext cx="28163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D3A49"/>
                </a:solidFill>
                <a:latin typeface="Aptos"/>
              </a:rPr>
              <a:t>CIs include zero; no clear effect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8321040" y="4581144"/>
            <a:ext cx="3200400" cy="694944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321040" y="4581144"/>
            <a:ext cx="64008" cy="694944"/>
          </a:xfrm>
          <a:prstGeom prst="rect">
            <a:avLst/>
          </a:prstGeom>
          <a:solidFill>
            <a:srgbClr val="CD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503920" y="4654296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667482"/>
                </a:solidFill>
                <a:latin typeface="Aptos"/>
              </a:rPr>
              <a:t>MONTHS 8–12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765792" y="4608576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CD5C48"/>
                </a:solidFill>
                <a:latin typeface="Aptos"/>
              </a:rPr>
              <a:t>+444 MWh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503920" y="4937759"/>
            <a:ext cx="28163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D3A49"/>
                </a:solidFill>
                <a:latin typeface="Aptos"/>
              </a:rPr>
              <a:t>95% CIs all above zero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339327" y="5468112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2A44"/>
                </a:solidFill>
                <a:latin typeface="Aptos"/>
              </a:rPr>
              <a:t>Output and labor rise at adjustment months 4, 6, and 8 — consistent with rebound, not proof of its cause.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502920" y="6236208"/>
            <a:ext cx="11183112" cy="0"/>
          </a:xfrm>
          <a:prstGeom prst="line">
            <a:avLst/>
          </a:prstGeom>
          <a:ln w="11430">
            <a:solidFill>
              <a:srgbClr val="DC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548640" y="6318504"/>
            <a:ext cx="111556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62A44"/>
                </a:solidFill>
                <a:latin typeface="Aptos"/>
              </a:rPr>
              <a:t>PROOF POINTS  |  480 plants • Plant-level change from month 0 • Sector × adjustment-month strata • HC2 SEs • 95% pointwise CIs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48640" y="6574536"/>
            <a:ext cx="11155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667482"/>
                </a:solidFill>
                <a:latin typeface="Aptos"/>
              </a:rPr>
              <a:t>Caution: These are ITT estimates from a synthetic dataset; period averages summarize monthly estimates. The pattern alone does not prove labor flexibility caused the reversal.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